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y="5143500" cx="9144000"/>
  <p:notesSz cx="6858000" cy="9144000"/>
  <p:embeddedFontLst>
    <p:embeddedFont>
      <p:font typeface="Google Sans Medium"/>
      <p:regular r:id="rId17"/>
      <p:bold r:id="rId18"/>
      <p:italic r:id="rId19"/>
      <p:boldItalic r:id="rId20"/>
    </p:embeddedFont>
    <p:embeddedFont>
      <p:font typeface="Google Sans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ADAEAAC-9D43-4611-BDA9-2C1015BE13A5}">
  <a:tblStyle styleId="{3ADAEAAC-9D43-4611-BDA9-2C1015BE13A5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GoogleSansMedium-boldItalic.fntdata"/><Relationship Id="rId11" Type="http://schemas.openxmlformats.org/officeDocument/2006/relationships/slide" Target="slides/slide5.xml"/><Relationship Id="rId22" Type="http://schemas.openxmlformats.org/officeDocument/2006/relationships/font" Target="fonts/GoogleSans-bold.fntdata"/><Relationship Id="rId10" Type="http://schemas.openxmlformats.org/officeDocument/2006/relationships/slide" Target="slides/slide4.xml"/><Relationship Id="rId21" Type="http://schemas.openxmlformats.org/officeDocument/2006/relationships/font" Target="fonts/GoogleSans-regular.fntdata"/><Relationship Id="rId13" Type="http://schemas.openxmlformats.org/officeDocument/2006/relationships/slide" Target="slides/slide7.xml"/><Relationship Id="rId24" Type="http://schemas.openxmlformats.org/officeDocument/2006/relationships/font" Target="fonts/GoogleSans-boldItalic.fntdata"/><Relationship Id="rId12" Type="http://schemas.openxmlformats.org/officeDocument/2006/relationships/slide" Target="slides/slide6.xml"/><Relationship Id="rId23" Type="http://schemas.openxmlformats.org/officeDocument/2006/relationships/font" Target="fonts/GoogleSans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GoogleSansMedium-regular.fntdata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font" Target="fonts/GoogleSansMedium-italic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GoogleSansMedium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" name="Google Shape;6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" name="Google Shape;6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" name="Google Shape;7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" name="Google Shape;7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" name="Google Shape;8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" name="Google Shape;9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" name="Google Shape;10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" name="Google Shape;10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3" name="Google Shape;13;p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4" name="Google Shape;14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7" name="Google Shape;1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" name="Google Shape;21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p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2" name="Google Shape;32;p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6" name="Google Shape;36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1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0" name="Google Shape;40;p1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1" name="Google Shape;41;p1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2" name="Google Shape;42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5" name="Google Shape;45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8" name="Google Shape;48;p1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353533d3d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294675" y="3319373"/>
            <a:ext cx="8520600" cy="4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rgbClr val="202729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Team Name :</a:t>
            </a:r>
            <a:endParaRPr b="0" i="0" sz="1600" u="none" cap="none" strike="noStrike">
              <a:solidFill>
                <a:srgbClr val="202729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328730" y="4269210"/>
            <a:ext cx="8520600" cy="4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rgbClr val="202729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Problem Statement :</a:t>
            </a:r>
            <a:endParaRPr b="0" i="0" sz="1600" u="none" cap="none" strike="noStrike">
              <a:solidFill>
                <a:srgbClr val="202729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310163" y="3794133"/>
            <a:ext cx="8520600" cy="4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rgbClr val="202729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Team Leader Name :</a:t>
            </a:r>
            <a:endParaRPr b="0" i="0" sz="1600" u="none" cap="none" strike="noStrike">
              <a:solidFill>
                <a:srgbClr val="202729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p14" title="wswswsw33d3d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4"/>
          <p:cNvSpPr txBox="1"/>
          <p:nvPr/>
        </p:nvSpPr>
        <p:spPr>
          <a:xfrm>
            <a:off x="3370500" y="702175"/>
            <a:ext cx="2403000" cy="4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018"/>
              <a:buFont typeface="Arial"/>
              <a:buNone/>
            </a:pPr>
            <a:r>
              <a:rPr b="0" i="0" lang="en-GB" sz="2050" u="none" cap="none" strike="noStrike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Team Members</a:t>
            </a:r>
            <a:endParaRPr b="0" i="0" sz="2050" u="none" cap="none" strike="noStrike">
              <a:solidFill>
                <a:schemeClr val="dk1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graphicFrame>
        <p:nvGraphicFramePr>
          <p:cNvPr id="64" name="Google Shape;64;p14"/>
          <p:cNvGraphicFramePr/>
          <p:nvPr/>
        </p:nvGraphicFramePr>
        <p:xfrm>
          <a:off x="952500" y="1329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{3ADAEAAC-9D43-4611-BDA9-2C1015BE13A5}</a:tableStyleId>
              </a:tblPr>
              <a:tblGrid>
                <a:gridCol w="3619500"/>
                <a:gridCol w="3619500"/>
              </a:tblGrid>
              <a:tr h="17949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Team Leader: 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Name: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College: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Team Member-1: 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Name: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College: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949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Team Member-2: 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Name: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College: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Team Member-3: 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Name: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College: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5" title="wswswsw33d3d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5"/>
          <p:cNvSpPr txBox="1"/>
          <p:nvPr/>
        </p:nvSpPr>
        <p:spPr>
          <a:xfrm>
            <a:off x="311700" y="863550"/>
            <a:ext cx="7569300" cy="4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4"/>
              <a:buFont typeface="Arial"/>
              <a:buNone/>
            </a:pPr>
            <a:r>
              <a:rPr b="0" i="0" lang="en-GB" sz="6450" u="none" cap="none" strike="noStrike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  Opportunity should be able to explain the following:</a:t>
            </a:r>
            <a:endParaRPr b="0" i="0" sz="6450" u="none" cap="none" strike="noStrike">
              <a:solidFill>
                <a:schemeClr val="dk1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  <a:p>
            <a:pPr indent="-331025" lvl="0" marL="457200" marR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Google Sans"/>
              <a:buChar char="●"/>
            </a:pPr>
            <a:r>
              <a:rPr b="0" i="0" lang="en-GB" sz="6450" u="none" cap="none" strike="noStrike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rPr>
              <a:t>How different is it from any of the other existing ideas?</a:t>
            </a:r>
            <a:endParaRPr b="0" i="0" sz="6450" u="none" cap="none" strike="noStrike">
              <a:solidFill>
                <a:schemeClr val="dk2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31025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Google Sans"/>
              <a:buChar char="●"/>
            </a:pPr>
            <a:r>
              <a:rPr b="0" i="0" lang="en-GB" sz="6450" u="none" cap="none" strike="noStrike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rPr>
              <a:t>How will it be able to solve the problem?</a:t>
            </a:r>
            <a:endParaRPr b="0" i="0" sz="6450" u="none" cap="none" strike="noStrike">
              <a:solidFill>
                <a:schemeClr val="dk2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31025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Google Sans"/>
              <a:buChar char="●"/>
            </a:pPr>
            <a:r>
              <a:rPr b="0" i="0" lang="en-GB" sz="6450" u="none" cap="none" strike="noStrike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rPr>
              <a:t>USP of the proposed solution</a:t>
            </a:r>
            <a:endParaRPr b="0" i="0" sz="6450" u="none" cap="none" strike="noStrike">
              <a:solidFill>
                <a:schemeClr val="dk2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ct val="61666"/>
              <a:buFont typeface="Arial"/>
              <a:buNone/>
            </a:pPr>
            <a:r>
              <a:t/>
            </a:r>
            <a:endParaRPr b="0" i="0" sz="1650" u="none" cap="none" strike="noStrik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6" title="wswswsw33d3d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6"/>
          <p:cNvSpPr txBox="1"/>
          <p:nvPr/>
        </p:nvSpPr>
        <p:spPr>
          <a:xfrm>
            <a:off x="311700" y="863550"/>
            <a:ext cx="7569300" cy="25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List of features offered by the solution</a:t>
            </a:r>
            <a:endParaRPr b="0" i="0" sz="1600" u="none" cap="none" strike="noStrike">
              <a:solidFill>
                <a:schemeClr val="dk1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rPr>
              <a:t>It is always better to add a few visual representations (drawings/sketches/illustrations etc.) to your presentation, it adds to the power through which it reaches the audience.</a:t>
            </a:r>
            <a:endParaRPr b="0" i="0" sz="1600" u="none" cap="none" strike="noStrike">
              <a:solidFill>
                <a:schemeClr val="dk2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Google Shape;81;p17" title="wswswsw33d3d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7"/>
          <p:cNvSpPr txBox="1"/>
          <p:nvPr/>
        </p:nvSpPr>
        <p:spPr>
          <a:xfrm>
            <a:off x="311700" y="863550"/>
            <a:ext cx="7569300" cy="25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Process flow diagram or Use-case diagram</a:t>
            </a:r>
            <a:endParaRPr b="0" i="0" sz="1600" u="none" cap="none" strike="noStrike">
              <a:solidFill>
                <a:schemeClr val="dk1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rPr>
              <a:t>Add a flow diagram or a use case diagram or an architecture diagram.</a:t>
            </a:r>
            <a:endParaRPr b="0" i="0" sz="1600" u="none" cap="none" strike="noStrike">
              <a:solidFill>
                <a:schemeClr val="dk2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18" title="wswswsw33d3d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8"/>
          <p:cNvSpPr txBox="1"/>
          <p:nvPr/>
        </p:nvSpPr>
        <p:spPr>
          <a:xfrm>
            <a:off x="311700" y="863550"/>
            <a:ext cx="7569300" cy="25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Wireframes/Mock diagrams of the proposed solution (optional)</a:t>
            </a:r>
            <a:endParaRPr b="0" i="0" sz="1600" u="none" cap="none" strike="noStrike">
              <a:solidFill>
                <a:schemeClr val="dk1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9" title="wswswsw33d3d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9"/>
          <p:cNvSpPr txBox="1"/>
          <p:nvPr/>
        </p:nvSpPr>
        <p:spPr>
          <a:xfrm>
            <a:off x="311700" y="863550"/>
            <a:ext cx="7569300" cy="25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Architecture diagram of the proposed solution</a:t>
            </a:r>
            <a:endParaRPr b="0" i="0" sz="1600" u="none" cap="none" strike="noStrike">
              <a:solidFill>
                <a:schemeClr val="dk1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20" title="wswswsw33d3d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20"/>
          <p:cNvSpPr txBox="1"/>
          <p:nvPr/>
        </p:nvSpPr>
        <p:spPr>
          <a:xfrm>
            <a:off x="311700" y="863550"/>
            <a:ext cx="7569300" cy="25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Technologies to be used in the solution:</a:t>
            </a:r>
            <a:endParaRPr b="0" i="0" sz="1600" u="none" cap="none" strike="noStrike">
              <a:solidFill>
                <a:schemeClr val="dk1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21" title="wswswsw33d3d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21"/>
          <p:cNvSpPr txBox="1"/>
          <p:nvPr/>
        </p:nvSpPr>
        <p:spPr>
          <a:xfrm>
            <a:off x="311700" y="863550"/>
            <a:ext cx="7569300" cy="25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Estimated implementation cost (optional):</a:t>
            </a:r>
            <a:endParaRPr b="0" i="0" sz="1600" u="none" cap="none" strike="noStrike">
              <a:solidFill>
                <a:schemeClr val="dk1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22" title="wswswswdwdww33d3d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